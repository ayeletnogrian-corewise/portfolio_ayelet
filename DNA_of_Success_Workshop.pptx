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E8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סדנה דיגיטלית אינטראקטיבית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DNA של הצלחה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פרואקטיביות · יציבות רגשית · התמדה · קבלת החלטות · מכוונות לתוצאות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389120"/>
            <a:ext cx="3657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שילוב של מחקר פסיכולוגי עדכני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E8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כלים פרקטיים ליישום מיידי בארגון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מודולים · 60-90 דקות · למידה עצמאית · מוכן ל-Storyline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פתיחה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ברוכים הבאים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במהלך הסדנה תכיר/י חמישה עקרונות המהווים את ה-DNA של אנשים יעילים ומצליחים — עקרונות המגובים במחקר עדכני, מתורגמים לכלים פרקטיים לשימוש יומיומי.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3657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566160"/>
            <a:ext cx="73152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למה עכשיו?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3291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בעולם משתנה, התכונות האלו הן היתרון התחרותי החדש של עובדים ומנהלים.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566160"/>
            <a:ext cx="3657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3566160"/>
            <a:ext cx="73152" cy="2651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למי מיועדת?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114800"/>
            <a:ext cx="3291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עובדים ומנהלי ביניים שרוצים לצמוח, להשפיע ולהוביל שינוי.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566160"/>
            <a:ext cx="3657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3566160"/>
            <a:ext cx="73152" cy="2651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מה נרוויח?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0" y="4114800"/>
            <a:ext cx="3291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 פרקטיים ליישום מיידי ותוכנית פעולה אישית של 90 יום.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מטרות למידה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מה תדע/י ותוכל/י לעשות בסוף הסדנה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698480" y="21031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לזהות ולאמץ הרגלי חשיבה פרואקטיביים במקום ריאקטיביים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698480" y="29260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לווסת תגובות רגשיות במצבי לחץ באמצעות כלים מבוססי-מחקר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698480" y="374904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לבנות מערכת התמדה אישית להשגת יעדים ארוכי-טווח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698480" y="45720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4572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לקבל החלטות איכותיות תוך זיהוי הטיות קוגניטיביות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698480" y="53949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0" y="5394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54406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לסגור את הפער בין כוונה לפעולה ולייצר תוצאות עקביות</a:t>
            </a:r>
            <a:endParaRPr lang="en-US" sz="1500" dirty="0"/>
          </a:p>
        </p:txBody>
      </p:sp>
      <p:sp>
        <p:nvSpPr>
          <p:cNvPr id="26" name="TextBox 25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מפת הדרכים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חמשת המודולים של הסדנה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560320"/>
            <a:ext cx="1554480" cy="1554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603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פרואקטיביות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77440" y="333756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108960" y="2560320"/>
            <a:ext cx="1554480" cy="1554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5603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2834640" y="4297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יציבות רגשית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333756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394960" y="2560320"/>
            <a:ext cx="1554480" cy="15544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25603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5120640" y="4297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התמדה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49440" y="333756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680960" y="2560320"/>
            <a:ext cx="1554480" cy="1554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25603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7406640" y="4297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קבלת החלטות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235440" y="333756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966960" y="2560320"/>
            <a:ext cx="1554480" cy="1554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66960" y="25603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9692640" y="4297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כוונות לתוצאות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מודול: תאוריה + כלים + תרגול אינטראקטיבי + יישום ארגוני (~12-18 דקות)</a:t>
            </a:r>
            <a:endParaRPr 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הערכה עצמית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איפה את/ה עומד/ת עכשיו?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דרג/י את עצמך בסולם 1-5 עבור כל אחד מחמשת הממדים. זהו מדד בסיס להשוואה בסוף הסדנה.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8346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פועל/ת מראש ולא רק מגיב/ה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0" y="292608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88920" y="292608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292608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17320" y="292608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292608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4290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נשאר/ת רגוע/ה תחת לחץ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474720" y="352044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88920" y="352044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03120" y="352044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17320" y="352044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173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352044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02336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40233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מתמיד/ה גם כשקשה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474720" y="411480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88920" y="411480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8892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103120" y="411480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0312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417320" y="411480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1732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" y="411480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" y="461772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46177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מקבל/ת החלטות בביטחון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474720" y="470916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88920" y="470916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889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103120" y="470916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031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417320" y="470916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173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31520" y="470916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48640" y="521208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0" y="52120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מבצע/ת את מה שהחלטתי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3474720" y="530352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0" y="5303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88920" y="530352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88920" y="5303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103120" y="530352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03120" y="5303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417320" y="530352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7320" y="5303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31520" y="530352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5303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ב-Storyline: ממש כ-Likert Scale + Variable (score_pre) לחישוב ציון בסוף הסדנה</a:t>
            </a:r>
            <a:endParaRPr lang="en-US" sz="1100" dirty="0"/>
          </a:p>
        </p:txBody>
      </p:sp>
      <p:sp>
        <p:nvSpPr>
          <p:cNvPr id="75" name="TextBox 74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7315200" cy="73152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מודול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פרואקטיביות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3657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E8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לפעול מראש במקום להגיב - לקחת אחריות, ליזום, להשפיע במקום להיגרר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6/70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הגדרה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מהי פרואקטיביות?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1 · פרואקטיביות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פרואקטיביות = היכולת לקחת יוזמה, לצפות מראש מצבים, ולפעול לפני שהסביבה מחייבת אותך לעשות זאת. להיפך מריאקטיביות (תגובה לגירויים חיצוניים).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103120"/>
            <a:ext cx="53492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פרואקטיבי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רואה הזדמנויות ומנצל אותן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מזהה בעיות מראש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לוקח אחריות על התוצאות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משקיע מאמץ מרצונו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משפיע על הסביבה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ממוקד בפתרונות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ריאקטיבי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מחכה להוראות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מגיב רק כשחייב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מאשים נסיבות חיצוניות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דוחה מעורבות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מושפע מהסביבה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ממוקד בבעיות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מודל קובי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מעגל ההשפעה מול מעגל הדאגה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1 · פרואקטיביות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0" y="2286000"/>
            <a:ext cx="4114800" cy="4114800"/>
          </a:xfrm>
          <a:prstGeom prst="ellipse">
            <a:avLst/>
          </a:prstGeom>
          <a:solidFill>
            <a:srgbClr val="E8F1F7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377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מעגל הדאגה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3200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מעגל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ההשפעה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286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עקרון מפתח (Stephen Covey)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אנשים פרואקטיביים מתמקדים במה שהם יכולים להשפיע עליו, וכך מעגל ההשפעה שלהם גדל. אנשים ריאקטיביים מתעסקים במה שמעבר לשליטתם — ומעגל ההשפעה שלהם מצטמצם.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5029200"/>
            <a:ext cx="73152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166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השאלה הפרואקטיבית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55778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"מה יש לי שליטה עליו כאן? ואיך אני פועל/ת עליו?"</a:t>
            </a:r>
            <a:endParaRPr lang="en-US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מחקר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Proactive Personality (Bateman &amp; Crant, 1993)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1 · פרואקטיביות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מחקר פורץ-דרך הגדיר את ה"אישיות הפרואקטיבית" כתכונה מדידה עם השלכות מוכחות על ביצועים ארגוניים.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+38%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ביצועים גבוהים יותר באנשים פרואקטיביים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2926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3108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2.3x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4480560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סיכוי גבוה יותר לקידום בתוך 5 שנים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2926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108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+45%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8138160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קבלה של אחריות על פרויקטים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212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מחקרים נוספים (Crant, 2000; Parker, 2010; Bindl, 2023) מצאו קשר ישיר בין פרואקטיביות לשביעות רצון בעבודה, חדשנות ארגונית, ויכולת הסתגלות לשינוי.</a:t>
            </a:r>
            <a:endParaRPr lang="en-US" sz="1300" dirty="0"/>
          </a:p>
        </p:txBody>
      </p:sp>
      <p:sp>
        <p:nvSpPr>
          <p:cNvPr id="22" name="TextBox 21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סיפור מקרה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רותם ויעל: שני מסלולים, תוצאות שונות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1 · פרואקטיביות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2103120"/>
            <a:ext cx="53492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רותם (ריאקטיבית)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כשהתקלה התרחשה, חיכתה שהמנהל ייתן הוראה. כשהפרויקט התעכב, האשימה את המחלקה השכנה. כשהוצע לה תפקיד חדש, ענתה: "אני לא יודעת, נראה מה יגידו".</a:t>
            </a:r>
            <a:endParaRPr lang="en-US" sz="1400" dirty="0"/>
          </a:p>
          <a:p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 לאחר שנה: באותו תפקיד, עם תסכול גובר.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יעל (פרואקטיבית)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כשזיהתה סיכון, כתבה מייל קצר למנהל עם 3 פתרונות. כשהפרויקט התעכב, יזמה פגישה רב-מחלקתית. כשעלתה הזדמנות, אמרה: "אשמח ללמוד יותר, בואו ננסה".</a:t>
            </a:r>
            <a:endParaRPr lang="en-US" sz="1400" dirty="0"/>
          </a:p>
          <a:p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 לאחר שנה: מובילת צוות, 15% העלאה.</a:t>
            </a:r>
            <a:endParaRPr 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כלי פרקטי #1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שאלת העצירה (The Pause Question)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1 · פרואקטיביות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 פעם שמשהו קורה — גירוי חיצוני, ביקורת, תקלה — עצור/י ל-3 שניות ושאל/י את עצמך: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2834640"/>
            <a:ext cx="941832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834640"/>
            <a:ext cx="9418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"האם אני עומד/ת להגיב — או לבחור תגובה?"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Viktor Frankl — "בין הגירוי לתגובה יש מרחב. במרחב הזה נמצאת הכוח לבחור. בבחירה שלנו נמצאים הצמיחה והחופש שלנו".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5394960"/>
            <a:ext cx="73152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5321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תרגול מיידי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594360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חשוב/י על המצב האחרון שעורר אצלך תגובה מיידית. מה הייתה יכולה להיות הבחירה האחרת שלך?</a:t>
            </a:r>
            <a:endParaRPr 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תרגיל אינטראקטיבי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מיין: פרואקטיבי או ריאקטיבי?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1 · פרואקטיביות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גרור/י כל משפט לקטגוריה המתאימה. ב-Storyline: Drag and Drop Freeform.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5349240" cy="3474720"/>
          </a:xfrm>
          <a:prstGeom prst="rect">
            <a:avLst/>
          </a:prstGeom>
          <a:solidFill>
            <a:srgbClr val="E8F1F7"/>
          </a:solidFill>
          <a:ln w="25400">
            <a:solidFill>
              <a:srgbClr val="1C7293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48640" y="27432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ריאקטיבי 🛑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63640" y="2743200"/>
            <a:ext cx="5349240" cy="3474720"/>
          </a:xfrm>
          <a:prstGeom prst="rect">
            <a:avLst/>
          </a:prstGeom>
          <a:solidFill>
            <a:srgbClr val="E8F1F7"/>
          </a:solidFill>
          <a:ln w="25400">
            <a:solidFill>
              <a:srgbClr val="065A8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263640" y="27432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פרואקטיבי 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474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"הפרויקט יאחר, אין מה לעשות"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47472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3474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"אעדכן מראש על סיכון ואציע פתרון"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347472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5320" y="3474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"זאת אשמתם, לא שלי"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4754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שואל/ת: מה בשליטתי עכשיו?"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47548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80560" y="4754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"אין לי זמן"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47548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75320" y="4754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"אתעדף מחדש"</a:t>
            </a:r>
            <a:endParaRPr 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כלי פרקטי #2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טבלת השליטה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1 · פרואקטיביות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יומי לחידוד הפוקוס: רשום/י את הבעיה הנוכחית, ואז מלא/י את הטבלה.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0972800" cy="292608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פעולה נדרשת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דוגמה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עמודה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להגדיר + לתעדף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שיחה עם הלקוח, מייל למנהל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בשליטתי מלאה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להשפיע, לא לשלוט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תגובת הלקוח, החלטת המנהל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 יכול/ה להשפיע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לקבל ולהרפות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מדיניות החברה, שוק כללי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מחוץ לשליטה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5760720"/>
            <a:ext cx="73152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כלל ברזל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" y="6309360"/>
            <a:ext cx="10607040" cy="-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השקע/י 80% מהזמן בעמודה הימנית. 15% באמצעית. 5% או פחות בשמאלית.</a:t>
            </a:r>
            <a:endParaRPr 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בדיקת ידע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שאלה: מעגל ההשפעה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1 · פרואקטיביות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עובדת צוות מתלוננת ש"ההנהלה לא מעריכה אותה". מה התגובה הפרואקטיבית ביותר?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0" y="31089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0175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לאסוף עדויות חדשות כדי להוכיח שההנהלה טועה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81360" y="37947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לבקש שיחת פידבק יזומה ולהביא הישגים קונקרטיים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81360" y="44805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136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לחכות עד להערכה השנתית ולקוות שיתייחסו אליה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81360" y="51663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8136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50749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לשתף את העמיתים בתסכול ולחפש עדים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פידבק ב-Storyline: Try Again (2 ניסיונות) → Show Correct</a:t>
            </a:r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יישום בארגון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תרגיל שבועי: "יוזמה שבועית"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1 · פרואקטיביות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התחייבות פרואקטיבית: פעם בשבוע, ביוזמתך, בלי שהתבקשת.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73152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718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יוזמה 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שלח/י מייל לעמית/ה עם רעיון לשיפור תהליך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83464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83464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9718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יוזמה 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3832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קבע/י שיחה של 15 דק' עם מישהו מחוץ לצוות הקרוב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389120"/>
            <a:ext cx="73152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262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יוזמה 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93776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זהה/י סיכון בפרויקט ודווח/י מראש עם הצעה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38912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4389120"/>
            <a:ext cx="73152" cy="137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5262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יוזמה 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493776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הצע/י תפקיד/משימה שתרצה/י לקחת בעצמך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תעד/י את היוזמות השבועיות ביומן הסדנה שלך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התחייבות אישית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הצעד הראשון שלי מהיום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1 · פרואקטיביות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286000"/>
            <a:ext cx="103327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5603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"השבוע אני מתחייב/ת ליזום פעולה פרואקטיבית אחת קונקרטית:"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88720" y="3474720"/>
            <a:ext cx="9784080" cy="1645920"/>
          </a:xfrm>
          <a:prstGeom prst="rect">
            <a:avLst/>
          </a:prstGeom>
          <a:solidFill>
            <a:srgbClr val="E8F1F7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188720" y="3474720"/>
            <a:ext cx="9784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[שדה טקסט חופשי ב-Storyline - Text Entry Field עם variable: commitment_m1]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ההתחייבות שלך תישמר ותופיע במסך הסיום של הסדנה עם תוכנית הפעולה המלאה.</a:t>
            </a:r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סיכום מודול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מה למדנו במודול 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1 · פרואקטיביות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698480" y="22860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פרואקטיביות = בחירה מודעת לפעול לפני, במקום להגיב אחרי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698480" y="31089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אנשים פרואקטיביים משיגים +38% ביצועים ופי 2.3 סיכוי לקידום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698480" y="39319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"שאלת העצירה" יוצרת את המרחב שבו נמצאת הבחירה האמיתית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698480" y="47548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"טבלת השליטה" ממקדת את האנרגיה במה שבאמת בשליטתך</a:t>
            </a:r>
            <a:endParaRPr lang="en-US" sz="1500" dirty="0"/>
          </a:p>
        </p:txBody>
      </p:sp>
      <p:sp>
        <p:nvSpPr>
          <p:cNvPr id="23" name="TextBox 22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7315200" cy="73152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מודול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יציבות רגשית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3657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E8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לווסת תגובות תחת לחץ - להישאר נוכח, מאוזן, מגיב מבחירה ולא מרגש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18/70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הגדרה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מהי יציבות רגשית?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2 · יציבות רגשית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יציבות רגשית = היכולת לחוות רגשות (כולל שליליים), לזהות אותם, ולווסת את התגובה אליהם — ללא הכחשה ומצד שני ללא הצפה.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103120"/>
            <a:ext cx="53492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סימנים של יציבות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מתעכב/ת בין גירוי לתגובה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מזהה את הרגש ושם לו שם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מחזיר/ה עצמו/ה לנוכחות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מבחין/ה בין עובדה לפרשנות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מדבר/ת אסרטיבית בלי לתקוף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משקם/ת אחרי טעות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סימני חוסר-יציבות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תגובה מיידית ללא חשיבה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הצפה רגשית מתמשכת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פרשנות = אמת (תמיד)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התקפה או בריחה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הימנעות או תוקפנות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מאבד/ת גובה אחרי כישלון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מחקר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Five Model - Neuroticism (Costa &amp; McCrae, 1992)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2 · יציבות רגשית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אחד ממודלי האישיות המבוססים ביותר בפסיכולוגיה המודרנית. יציבות רגשית = ההיפך מנוירוטיציזם.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מהשונות בביצועים בעבודה מוסברת ע"י יציבות רגשית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2926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3108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-62%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4480560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שחיקה באנשים עם יציבות רגשית גבוהה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2926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108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+71%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8138160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שביעות רצון גבוהה יותר במערכות יחסים מקצועיות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212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מחקר Judge et al. (2002) + עדכון Soto (2019): יציבות רגשית ניתנת לפיתוח — לא תכונה קבועה. הכלים במודול הזה מבוססי-ראיות.</a:t>
            </a:r>
            <a:endParaRPr lang="en-US" sz="1300" dirty="0"/>
          </a:p>
        </p:txBody>
      </p:sp>
      <p:sp>
        <p:nvSpPr>
          <p:cNvPr id="22" name="TextBox 21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מודל SCARF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חמשת האיומים החברתיים (David Rock, 2008)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2 · יציבות רגשית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המוח שלנו מגיב לאיומים חברתיים באותה עוצמה כמו לאיומים פיזיים. זיהוי האיום = חצי מהריסון.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834640"/>
            <a:ext cx="1188720" cy="118872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834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Status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מעמד — תחושה שמקטינים אותי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834640"/>
            <a:ext cx="1188720" cy="118872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834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834640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Certainty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34640" y="45720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ודאות — אי-ידיעה ואי-יכולת לחזות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2834640"/>
            <a:ext cx="1188720" cy="118872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834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120640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0" y="45720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אוטונומיה — תחושת חוסר בחירה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2834640"/>
            <a:ext cx="1188720" cy="1188720"/>
          </a:xfrm>
          <a:prstGeom prst="ellipse">
            <a:avLst/>
          </a:prstGeom>
          <a:solidFill>
            <a:srgbClr val="2129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2834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7406640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Relatedness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45720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שייכות — דחייה או בידוד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149840" y="2834640"/>
            <a:ext cx="1188720" cy="1188720"/>
          </a:xfrm>
          <a:prstGeom prst="ellipse">
            <a:avLst/>
          </a:prstGeom>
          <a:solidFill>
            <a:srgbClr val="F9E79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49840" y="2834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9692640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Fairness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92640" y="45720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הוגנות — יחס לא הוגן</a:t>
            </a:r>
            <a:endParaRPr lang="en-US" sz="1100" dirty="0"/>
          </a:p>
        </p:txBody>
      </p:sp>
      <p:sp>
        <p:nvSpPr>
          <p:cNvPr id="32" name="TextBox 31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פיזיולוגיה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חטיפת האמיגדלה (Amygdala Hijack)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2 · יציבות רגשית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כשהאמיגדלה מזהה איום, היא "חוטפת" את הקליפה הקדם-מצחית (חשיבה רציונלית). התוצאה: תגובה מהירה, לא שקולה, שלעיתים מזיקה.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265176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גירוי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663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מייל ביקורתי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4389120"/>
            <a:ext cx="13716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3383280"/>
            <a:ext cx="2651760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38328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זיהוי איום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20440" y="4663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האמיגדלה מזהה סכנה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4389120"/>
            <a:ext cx="13716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383280"/>
            <a:ext cx="2651760" cy="2011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21792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הצפה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5080" y="4663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קורטיזול, אדרנלין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15400" y="4389120"/>
            <a:ext cx="13716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3383280"/>
            <a:ext cx="2651760" cy="2011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05256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תגובה אוטומטית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89720" y="4663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לברוח / להילחם / לקפוא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10972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5486400"/>
            <a:ext cx="73152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6235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הכלי: 90 שניות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" y="6035040"/>
            <a:ext cx="106070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התגובה הכימי של האמיגדלה הוא 90 שניות. אם תחכה 90 שניות לפני שתגיב, הסערה תרגע.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כלי פרקטי #1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RAIN (Tara Brach)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2 · יציבות רגשית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של 60-90 שניות לוויסות רגשי - 4 שלבים פשוטים: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43200"/>
            <a:ext cx="73152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80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 · זיהוי (Recognize)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חש/ה עכשיו..."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74320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743200"/>
            <a:ext cx="73152" cy="1508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880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· הרשאה (Allow)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2918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"מותר לי להרגיש כך"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434840"/>
            <a:ext cx="73152" cy="1508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72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· חקירה (Investigate)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9834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"מה הרגש הזה רוצה להגיד?"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43484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4434840"/>
            <a:ext cx="73152" cy="1508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572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 · ליטוף (Nurture)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49834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"מה יתן לי רכות עכשיו?"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יומי של 5 דק' מחזק את המסלולים העצביים של ויסות רגשי תוך 8 שבועות (Hölzel et al., 2011)</a:t>
            </a:r>
            <a:endParaRPr lang="en-US" sz="1100" dirty="0"/>
          </a:p>
        </p:txBody>
      </p:sp>
      <p:sp>
        <p:nvSpPr>
          <p:cNvPr id="29" name="TextBox 28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כלי פרקטי #2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נשימה 4-7-8 (Dr. Andrew Weil)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2 · יציבות רגשית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טכניקת נשימה המפעילה את המערכת הפאראסימפתטית (מרגיעה). יעילה במיוחד לפני פגישה מלחיצה או בזמן עימות.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108960"/>
            <a:ext cx="3017520" cy="3017520"/>
          </a:xfrm>
          <a:prstGeom prst="ellipse">
            <a:avLst/>
          </a:prstGeom>
          <a:solidFill>
            <a:srgbClr val="065A82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089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שאיפה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דרך האף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שניות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108960"/>
            <a:ext cx="3017520" cy="3017520"/>
          </a:xfrm>
          <a:prstGeom prst="ellipse">
            <a:avLst/>
          </a:prstGeom>
          <a:solidFill>
            <a:srgbClr val="1C7293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1089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1000" dirty="0"/>
          </a:p>
        </p:txBody>
      </p:sp>
      <p:sp>
        <p:nvSpPr>
          <p:cNvPr id="18" name="Text 16"/>
          <p:cNvSpPr/>
          <p:nvPr/>
        </p:nvSpPr>
        <p:spPr>
          <a:xfrm>
            <a:off x="4572000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החזקה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5120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עצירת נשימה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שניות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3108960"/>
            <a:ext cx="3017520" cy="3017520"/>
          </a:xfrm>
          <a:prstGeom prst="ellipse">
            <a:avLst/>
          </a:prstGeom>
          <a:solidFill>
            <a:srgbClr val="F96167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1089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10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נשיפה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0" y="5120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דרך הפה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שניות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ב-Storyline: הוסף/י אנימציה מעגלית עם טיימר ומוזיקה שקטה</a:t>
            </a:r>
            <a:endParaRPr lang="en-US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סימולציה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צפייה והערכה: תגובה תחת לחץ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2 · יציבות רגשית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103120"/>
            <a:ext cx="7315200" cy="4114800"/>
          </a:xfrm>
          <a:prstGeom prst="rect">
            <a:avLst/>
          </a:prstGeom>
          <a:solidFill>
            <a:srgbClr val="21295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365760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3657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VIDEO: ישיבת צוות שבה מנהל מקבל ביקורת חריפה על החלטה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103120"/>
            <a:ext cx="3474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2103120"/>
            <a:ext cx="73152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לפני הצפייה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265176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צפה/י בסרטון וסמן/י את 3 רגעי המפתח שבהם ניכרת יציבות רגשית — או חוסר בה.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420624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0" y="4206240"/>
            <a:ext cx="73152" cy="2011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אחרי הצפייה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0" y="4754880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ענה/י על 3 שאלות: מה זיהית? איזה SCARF הופעל? איזה כלי היה עוזר?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תרחיש החלטה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הצ'אט הקריטי בזמן לחץ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2 · יציבות רגשית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המנכ"ל שולח לך בצ'אט הודעה: "אני צריך תשובה עכשיו. הפרויקט שלך בסכנה". איך תגיב/י?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10972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108960"/>
            <a:ext cx="13716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32004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"בטוח, על מה בדיוק?" (3 שניות)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36118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A: תגובה שקולה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שיח פתוח → מידע → החלטה טובה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0972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160520"/>
            <a:ext cx="13716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42519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"הכל בסדר, אל תדאג"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46634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B: הרגעה מיידית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434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חוסר ודאות → תסכול → אבדן אמון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212080"/>
            <a:ext cx="13716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53035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"למה אתה תמיד לחוצים מהפרויקטים שלי?!"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5715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C: תגובה ריאקטיבית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5486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עימות → נזק ליחסים → השלכות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30936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ב-Storyline: כל תשובה → Layer/Scene נפרדת עם תוצאה מפורטת ואופציה לחזור</a:t>
            </a:r>
            <a:endParaRPr lang="en-US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בדיקת ידע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שאלה: מודל SCARF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2 · יציבות רגשית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מנהל שינה את החלטתו לגבי התפקיד שלך ללא הסבר. איזה איום SCARF הופעל הכי חזק?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0" y="31089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0175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(מעמד) בלבד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81360" y="37947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+ Fairness - פגיעה באוטונומיה ותחושת חוסר-הוגנות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81360" y="44805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136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Relatedness - פגיעה בשייכות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81360" y="51663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8136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50749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Certainty - רק ודאות</a:t>
            </a:r>
            <a:endParaRPr lang="en-US" sz="1300" dirty="0"/>
          </a:p>
        </p:txBody>
      </p:sp>
      <p:sp>
        <p:nvSpPr>
          <p:cNvPr id="30" name="TextBox 29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תרגול יומי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יומן רגשות - 3 דקות בסוף יום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2 · יציבות רגשית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0972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81360" y="23774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1945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רגש מרכזי שחוויתי היום היה: ______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0972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81360" y="32918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1089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הוא התעורר במצב של: ______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0972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81360" y="42062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813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הגירוי מתחת לפני השטח (SCARF): ______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0972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51206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813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49377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הגבתי? ומה הייתי רוצה לעשות אחרת?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מחקרים (Pennebaker &amp; Smyth, 2016): יומן רגשות של 15 דק' ליום מפחית מתח ב-23% תוך חודש.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סיכום מודול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מה למדנו במודול 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2 · יציבות רגשית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698480" y="22860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יציבות רגשית נמדדת בזמן שחוזרים מהרגש — לא בהיעדרו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698480" y="31089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SCARF מזהה את איומי המוח החברתי: S·C·A·R·F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698480" y="39319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RAIN: זיהוי → הרשאה → חקירה → ליטוף (60-90 שניות)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698480" y="47548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נשימת 4-7-8 מפעילה את המערכת הפאראסימפתטית — כלי במצבי לחץ</a:t>
            </a:r>
            <a:endParaRPr lang="en-US" sz="1500" dirty="0"/>
          </a:p>
        </p:txBody>
      </p:sp>
      <p:sp>
        <p:nvSpPr>
          <p:cNvPr id="23" name="TextBox 22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21295C">
              <a:alpha val="50000"/>
            </a:srgbClr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7315200" cy="73152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מודול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התמדה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3657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E8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להמשיך כשקשה - הכלי שמבדיל בין חלום למימוש, בין יעד לתוצאה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30/70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מחקר מפתח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Grit - Angela Duckworth (2016)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3 · התמדה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Grit = שילוב של תשוקה עקבית ומתמדת + עקשנות לטווח ארוך. המחקר של Duckworth מצא שזה מנבא הצלחה חזק יותר מאינטליגנציה או כישרון.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IQ+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Grit מנבא הצלחה טוב יותר מאינטליגנציה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29184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4480560" y="4572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תרגול מכוון (deliberate practice) למומחיות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329184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+42%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8138160" y="4572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סיכוי לסיים משימה קשה אצל בעלי Grit גבוה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Grit = Passion × Perseverance. לא מדובר במאמץ רגעי - אלא במחויבות של שנים.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מחקר מפתח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Mindset - Carol Dweck (2006)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3 · התמדה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2103120"/>
            <a:ext cx="53492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Fixed Mindset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"זה לא הכישרון שלי"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כישלון = הוכחה שאני לא טוב/ה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נמנע/ת מאתגרים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מתגונן/ת כשמקבל/ת משוב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מרגיש/ה מאוים/ת מהצלחת אחרים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כשקשה - מתייאש/ת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Mindset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"אני עדיין לא יודע/ת"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כישלון = מידע לצמיחה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מחפש/ת אתגרים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לומד/ת ממשוב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מושפע/ת חיובית מהצלחת אחרים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כשקשה - מעמיק/ה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263640"/>
            <a:ext cx="10972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6263640"/>
            <a:ext cx="73152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64008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המפתח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6812280"/>
            <a:ext cx="10607040" cy="-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החלף/י "אני לא..." ב-"אני עדיין לא..." - מילה אחת ששינתה מחקרים שלמים.</a:t>
            </a:r>
            <a:endParaRPr 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מחקר היסטורי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מבחן המרשמלו - Walter Mischel ועדכוניו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3 · התמדה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המחקר הקלאסי (1960) מצא שילדים שדחו סיפוק מיידי הצליחו יותר בחיים. המחקרים העדכניים (2018) מדגישים: זה קשור ביכולת לראות את היעד, לא רק בעכבה.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103120"/>
            <a:ext cx="53492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הלקח הישן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"השליטה העצמית היא המפתח"</a:t>
            </a:r>
            <a:endParaRPr lang="en-US" sz="1400" dirty="0"/>
          </a:p>
          <a:p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ילדים ששלטו בעצמם = מצליחים יותר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הלקח המעודכן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"מה שמאפשר שליטה זה חיבור חזק לעתיד"</a:t>
            </a:r>
            <a:endParaRPr lang="en-US" sz="1400" dirty="0"/>
          </a:p>
          <a:p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הופכים את המטרה למוחשית, לא איך 'כופים' משמעת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סיפור השראה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ה-100 ניסיונות הראשונים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3 · התמדה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Dyson עבד 15 שנים על 5,127 אבי-טיפוס לשואב האבק בלי שקית. מה שנראה כהתמדה עקשנית היה שילוב של 3 עקרונות: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383280"/>
            <a:ext cx="73152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חיבור למטרה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3291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הוא ידע למה זה חשוב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38328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3383280"/>
            <a:ext cx="73152" cy="2560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למידה מכל כישלון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3931920"/>
            <a:ext cx="3291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ניסיון = מידע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38328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3383280"/>
            <a:ext cx="73152" cy="2560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סבלנות אסטרטגית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0" y="3931920"/>
            <a:ext cx="3291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לטווח ארוך, לא רגעי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לא נכשלתי 5,127 פעמים. מצאתי 5,127 דרכים שלא עובדות." - James Dyson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כלי פרקטי #1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WOOP - Gabriele Oettingen (NYU)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3 · התמדה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מחקר של 20 שנה, מוכח לשיפור התמדה. 4 שלבים פשוטים לכל יעד: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834640"/>
            <a:ext cx="2286000" cy="228600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346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Wish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המשאלה - מה אני רוצה?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0" y="2834640"/>
            <a:ext cx="2286000" cy="228600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8346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9000" dirty="0"/>
          </a:p>
        </p:txBody>
      </p:sp>
      <p:sp>
        <p:nvSpPr>
          <p:cNvPr id="18" name="Text 16"/>
          <p:cNvSpPr/>
          <p:nvPr/>
        </p:nvSpPr>
        <p:spPr>
          <a:xfrm>
            <a:off x="3383280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Outcome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83280" y="5623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 - איך זה ייראה?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2834640"/>
            <a:ext cx="2286000" cy="228600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8346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9000" dirty="0"/>
          </a:p>
        </p:txBody>
      </p:sp>
      <p:sp>
        <p:nvSpPr>
          <p:cNvPr id="22" name="Text 20"/>
          <p:cNvSpPr/>
          <p:nvPr/>
        </p:nvSpPr>
        <p:spPr>
          <a:xfrm>
            <a:off x="6217920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Obstacle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5623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המכשול - מה יפריע?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26880" y="2834640"/>
            <a:ext cx="2286000" cy="2286000"/>
          </a:xfrm>
          <a:prstGeom prst="ellipse">
            <a:avLst/>
          </a:prstGeom>
          <a:solidFill>
            <a:srgbClr val="2129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28346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9000" dirty="0"/>
          </a:p>
        </p:txBody>
      </p:sp>
      <p:sp>
        <p:nvSpPr>
          <p:cNvPr id="26" name="Text 24"/>
          <p:cNvSpPr/>
          <p:nvPr/>
        </p:nvSpPr>
        <p:spPr>
          <a:xfrm>
            <a:off x="9052560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52560" y="5623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התוכנית - מה אעשה אם?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כלי פרקטי #2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Habit Stacking - James Clear (Atomic Habits)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3 · התמדה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הכלל: "אחרי [הרגל קיים] אני אעשה [הרגל חדש]". בונים את ההרגל החדש על גבי משהו שכבר קורה אוטומטית.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0972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00400"/>
            <a:ext cx="13716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32004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"אחרי שאחרי שחיברתי את המחשב בבוקר...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2004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אכתוב 3 משימות מרכזיות של היום"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0972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14800"/>
            <a:ext cx="13716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41148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"אחרי שאחרי הארוחה בצהריים...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114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אצא ל-5 דק' הליכה"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0972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029200"/>
            <a:ext cx="13716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50292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"אחרי שאחרי שסגרתי את המחשב בסוף יום...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0292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ארשום 2 הישגים של היום"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ימים = משך הזמן הממוצע להטמעת הרגל (Lally et al., 2010, מחקר UCL)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תרגיל אינטראקטיבי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מיפוי המכשולים האישיים שלי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3 · התמדה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חשוב/י על יעד שלא התמדת בו. סמן/י ב-Storyline את המכשולים הרלוונטיים (Multi-select):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2971800"/>
            <a:ext cx="457200" cy="457200"/>
          </a:xfrm>
          <a:prstGeom prst="rect">
            <a:avLst/>
          </a:prstGeom>
          <a:solidFill>
            <a:srgbClr val="E8F1F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חוסר זמן / עומס יומיומי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0" y="2971800"/>
            <a:ext cx="457200" cy="457200"/>
          </a:xfrm>
          <a:prstGeom prst="rect">
            <a:avLst/>
          </a:prstGeom>
          <a:solidFill>
            <a:srgbClr val="E8F1F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סטיחה רגשית / חשש מכישלון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4069080"/>
            <a:ext cx="457200" cy="457200"/>
          </a:xfrm>
          <a:prstGeom prst="rect">
            <a:avLst/>
          </a:prstGeom>
          <a:solidFill>
            <a:srgbClr val="E8F1F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3840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חוסר ודאות לגבי הצעד הבא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84048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4069080"/>
            <a:ext cx="457200" cy="457200"/>
          </a:xfrm>
          <a:prstGeom prst="rect">
            <a:avLst/>
          </a:prstGeom>
          <a:solidFill>
            <a:srgbClr val="E8F1F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83680" y="3840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פרפקציוניזם / "לא טוב מספיק"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5166360"/>
            <a:ext cx="457200" cy="457200"/>
          </a:xfrm>
          <a:prstGeom prst="rect">
            <a:avLst/>
          </a:prstGeom>
          <a:solidFill>
            <a:srgbClr val="E8F1F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2960" y="4937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חוסר תמיכה או אחריותיות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493776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338560" y="5166360"/>
            <a:ext cx="457200" cy="457200"/>
          </a:xfrm>
          <a:prstGeom prst="rect">
            <a:avLst/>
          </a:prstGeom>
          <a:solidFill>
            <a:srgbClr val="E8F1F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33856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583680" y="4937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 לאחרים / סטנדרט לא-מציאותי</a:t>
            </a:r>
            <a:endParaRPr lang="en-US" sz="1300" dirty="0"/>
          </a:p>
        </p:txBody>
      </p:sp>
      <p:sp>
        <p:nvSpPr>
          <p:cNvPr id="38" name="TextBox 37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סימולציה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מסע של 3 שבועות - מה תעשה/י ביום 14?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3 · התמדה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אחרי 2 שבועות מוצלחים של הרגל חדש, קורה אחד מהדברים הבאים. איך תגיב/י?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10972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971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יום 14: החמצת בפעם הראשונה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להתייאש ולוותר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לראות כנתון - מחר חוזרים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10972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114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יום 15: רעב/ה לקפוץ דילוג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526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לוותר על היום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4526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לבצע 5% מהמטא - ולשמור על הרצף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0972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5257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יום 21: אין עדיין תוצאה נראית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להסיק שזה לא עובד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5669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להמשיך - התוצאות מגיעות בשבוע 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ב-Storyline: Branching Scenario - כל בחירה פותחת Layer עם פידבק מפורט ומחקר תומך</a:t>
            </a:r>
            <a:endParaRPr lang="en-US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בדיקת ידע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שאלה: WOOP בפעולה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3 · התמדה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שיבצתי יעד: "להתחיל לעשות 3 אימונים בשבוע". מה הצעד החשוב ביותר לפי WOOP?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0" y="31089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0175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לרשום את היעד באפליקציה ולהתחיל מיד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81360" y="37947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להגדיר Plan מראש: "אם הפגישה התארכה, אז אלך לאימון בבוקר"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81360" y="44805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136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לספר לחברים כדי להרגיש מחויב/ת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81360" y="51663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8136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50749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להזמין בגדי ספורט חדשים למוטיבציה</a:t>
            </a:r>
            <a:endParaRPr lang="en-US" sz="1300" dirty="0"/>
          </a:p>
        </p:txBody>
      </p:sp>
      <p:sp>
        <p:nvSpPr>
          <p:cNvPr id="30" name="TextBox 29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תוכנית פעולה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 ימים - שיטת המסלול הקטן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3 · התמדה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286000"/>
            <a:ext cx="18288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2423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ימים 1-7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0" y="2788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הדבקה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מתחילים קטן (5% מהיעד) - הרעיון הוא לא להפסיד את הרצף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66160"/>
            <a:ext cx="18288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ימים 8-14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0" y="4069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העמקה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749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מגדילים ל-50% מהיעד - מתחילים להרגיש את ההרגל נוצר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846320"/>
            <a:ext cx="18288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4983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ימים 15-21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0" y="5349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התמסדות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5029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מלא יעד. הרגל החל להתייצב במסלולים העצביים</a:t>
            </a:r>
            <a:endParaRPr lang="en-US" sz="1300" dirty="0"/>
          </a:p>
        </p:txBody>
      </p:sp>
      <p:sp>
        <p:nvSpPr>
          <p:cNvPr id="26" name="TextBox 25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סיכום מודול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מה למדנו במודול 3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3 · התמדה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698480" y="22860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Grit = תשוקה × התמדה לטווח ארוך (Duckworth)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698480" y="31089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Mindset: מילה אחת — 'עדיין' — משנה את יחסך לכישלון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698480" y="39319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WOOP: Wish → Outcome → Obstacle → Plan (מוכח מחקרית)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698480" y="47548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Stacking: 'אחרי [הרגל קיים] אעשה [חדש]' - 66 ימים ליצירת הרגל</a:t>
            </a:r>
            <a:endParaRPr lang="en-US" sz="1500" dirty="0"/>
          </a:p>
        </p:txBody>
      </p:sp>
      <p:sp>
        <p:nvSpPr>
          <p:cNvPr id="23" name="TextBox 22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F96167">
              <a:alpha val="5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7315200" cy="73152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מודול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קבלת החלטות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3657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E8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לבחור טוב יותר - כלים לזיהוי הטיות קוגניטיביות ולהחלטות שקולות במציאות מורכבת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42/70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מחקר בסיסי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שתי מערכות חשיבה - Daniel Kahneman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4 · קבלת החלטות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תורת 'החשיבה המהירה והאיטית' (2011) מחלקת את המוח ל-2 מערכות שמקבלות החלטות באופן שונה לחלוטין.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103120"/>
            <a:ext cx="53492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מערכת 1 - מהירה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אוטומטית, אינטואיטיבית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ללא מאמץ מודע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פועלת על הטיות ודפוסים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95% מההחלטות היומיומיות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מהירה - אבל טועה הרבה</a:t>
            </a:r>
            <a:endParaRPr lang="en-US" sz="1400" dirty="0"/>
          </a:p>
          <a:p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דוגמה: אני לא אוהב/ת אותו מההתחלה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מערכת 2 - איטית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מודעת, אנליטית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דורשת מאמץ מנטלי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בודקת ראיות ונתונים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משמשת לבעיות מורכבות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איטית - אבל מדויקת יותר</a:t>
            </a:r>
            <a:endParaRPr lang="en-US" sz="1400" dirty="0"/>
          </a:p>
          <a:p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דוגמה: חישוב תקציב חודשי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הטיות קוגניטיביות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הטיות שמשפיעות על כל החלטה בעבודה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4 · קבלת החלטות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286000"/>
            <a:ext cx="73152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231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Confirmation Bias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5212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לחפש ראיות שמאשרות מה שכבר האמנו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286000"/>
            <a:ext cx="73152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4231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Anchoring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834640"/>
            <a:ext cx="5212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לתת משקל רב מדי למידע הראשון שקיבלנו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297680"/>
            <a:ext cx="73152" cy="1828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348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Sunk Cost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5212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להמשיך השקעה בגלל מה שכבר הושקע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29768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4297680"/>
            <a:ext cx="73152" cy="1828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4348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4846320"/>
            <a:ext cx="5212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להגזים בחשיבות מה שזכור לנו יותר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מחקר Tversky &amp; Kahneman: זיהוי הטיה = 70% מהעבודה. פשוט לשאול 'איזו הטיה בפעולה עכשיו?'</a:t>
            </a:r>
            <a:endParaRPr 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מודל DECIDE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שלבים להחלטה שקולה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4 · קבלת החלטות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286000"/>
            <a:ext cx="731520" cy="7315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הגדרה - מהי הבעיה האמיתית?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210312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2286000"/>
            <a:ext cx="731520" cy="7315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4924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Establish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26280" y="31089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הצבת קריטריונים - מה חשוב לי?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210312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2286000"/>
            <a:ext cx="731520" cy="7315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Consider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21040" y="31089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שקילה - אילו אלטרנטיבות קיימות?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389120"/>
            <a:ext cx="731520" cy="73152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554480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Identify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52120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- איזו אלטרנטיבה הכי מתאימה?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43400" y="42062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26280" y="4389120"/>
            <a:ext cx="731520" cy="7315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349240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26280" y="52120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 - איך ליישם?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38160" y="42062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21040" y="4389120"/>
            <a:ext cx="731520" cy="7315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144000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21040" y="52120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הערכה - האם זה עבד?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כלי פרקטי #1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Premortem - Gary Klein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4 · קבלת החלטות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שמתחילים פרויקט/החלטה, דמיינו שזה נכשל בגדול, ושאלו: 'למה?'. מחקרים מראים שהכלי הזה משפר יכולת זיהוי סיכונים ב-30%.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0" y="34747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813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דמיינו - זה יוני בשנה הבאה. הפרויקט נכשל.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81360" y="42062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כתבו - כל הסיבות האפשריות לכישלון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81360" y="493776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813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דרגו - אילו סיכונים סבירים יותר?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81360" y="5669280"/>
            <a:ext cx="457200" cy="45720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8136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55778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תכננו - איך להקטין כל סיכון עכשיו?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כלי פרקטי #2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10-10-10 - Suzy Welch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4 · קבלת החלטות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מהיר להחלטות תחת עומס רגשי. שאל/י את עצמך 3 שאלות: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365760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דקות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איך אני אראה את זה עוד 10 דקות?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1206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התגובה הרגשית המיידית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283464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2834640"/>
            <a:ext cx="36576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חודשים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0" y="36576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איך אני אראה את זה עוד 10 חודשים?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51206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ההשלכות בטווח הבינוני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283464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0" y="2834640"/>
            <a:ext cx="36576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שנים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12480" y="36576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איך אני אראה את זה עוד 10 שנים?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0" y="51206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הערכים ארוכי-הטווח שלי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החלטה במצב לחץ: קבלת הצעת עבודה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4 · קבלת החלטות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קיבלת הצעה מפתה ממתחרה - +25% משכורת, תפקיד מעניין, אבל התחלה בעוד 14 יום. מה עושים?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1752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54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מערכת 1 (מיידית)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כן! יותר כסף! בואו נעשה את זה!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017520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017520"/>
            <a:ext cx="73152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154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Premortem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עלול להשתבש? תרבות חדשה? מפעל לא יציב?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617720"/>
            <a:ext cx="7315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754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10-10-10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516636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בעוד שנה - איך זה נראה? בעוד 5 שנים?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617720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4617720"/>
            <a:ext cx="73152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754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החלטה שקולה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516636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לבקש 3 ימי חשיבה + פגישה לקבלת פרטים ולקבל החלטה מושכלת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תרגיל אינטראקטיבי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מטריצת החלטה (Weighted Decision Matrix)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4 · קבלת החלטות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להחלטות מרובות-קריטריונים. דוגמה: בחירה בין 3 ספקים.</a:t>
            </a:r>
            <a:endParaRPr lang="en-US" sz="13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130552"/>
                <a:gridCol w="2130552"/>
                <a:gridCol w="213969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קריטריון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משקל (%)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ספק 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ספק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ספק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מחיר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איכות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שירות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זמן אספקה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סה"כ משוקלל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 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ב-Storyline: שדות קלט ממוחשבים - המשתמש מזין ציונים, המערכת מחשבת ומציגה המלצה</a:t>
            </a:r>
            <a:endParaRPr lang="en-US" sz="1100" dirty="0"/>
          </a:p>
        </p:txBody>
      </p:sp>
      <p:sp>
        <p:nvSpPr>
          <p:cNvPr id="51" name="TextBox 50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בדיקת ידע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שאלה: הטיות קוגניטיביות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4 · קבלת החלטות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הצוות שלך השקיע 6 חודשים בפרויקט שלא מתקדם. אתה ממשיך 'כי הושקע כבר הרבה'. איזו הטיה זו?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0" y="31089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0175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Bias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81360" y="37947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 Cost Fallacy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81360" y="44805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136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81360" y="51663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8136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50749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Bias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יישום בארגון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פרוטוקול החלטות של הצוות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4 · קבלת החלטות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הטמע/י ב-3 פגישות הקרובות את השגרה הבאה: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698480" y="26517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26974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החלטה - מישהו משמש 'פרקליט השטן' ומתקיל הנחות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698480" y="34747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0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Premortem קצר: 'מה יהרוג את ההחלטה הזאת?'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698480" y="42976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0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מגדירים יחד קריטריוני הצלחה מדידים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698480" y="512064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0" y="5120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51663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קובעים תאריך בדיקה: 30 יום אחרי - איך זה התקדם?</a:t>
            </a:r>
            <a:endParaRPr lang="en-US" sz="1500" dirty="0"/>
          </a:p>
        </p:txBody>
      </p:sp>
      <p:sp>
        <p:nvSpPr>
          <p:cNvPr id="24" name="TextBox 23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התחייבות אישית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החלטה שאני רוצה לקבל אחרת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4 · קבלת החלטות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286000"/>
            <a:ext cx="103327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5603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"החלטה אחת שאני עומד/ת בפניה / קיבלתי לאחרונה, ואפעיל עליה את הכלים שלמדתי:"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9784080" cy="1645920"/>
          </a:xfrm>
          <a:prstGeom prst="rect">
            <a:avLst/>
          </a:prstGeom>
          <a:solidFill>
            <a:srgbClr val="E8F1F7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188720" y="3566160"/>
            <a:ext cx="9784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[שדה טקסט חופשי - variable: decision_m4]</a:t>
            </a:r>
            <a:endParaRPr lang="en-US" sz="1300" dirty="0"/>
          </a:p>
        </p:txBody>
      </p:sp>
      <p:sp>
        <p:nvSpPr>
          <p:cNvPr id="17" name="TextBox 16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סיכום מודול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מה למדנו במודול 4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4 · קבלת החלטות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698480" y="22860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מערכות: מהירה (אוטומטית) + איטית (אנליטית) - Kahneman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698480" y="31089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הטיות: Confirmation · Anchoring · Sunk Cost · Availability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698480" y="39319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מודל 6-שלבי מסודר לכל החלטה משמעותית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698480" y="47548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Premortem + 10-10-10: זמן קצר, החלטה טובה יותר</a:t>
            </a:r>
            <a:endParaRPr lang="en-US" sz="1500" dirty="0"/>
          </a:p>
        </p:txBody>
      </p:sp>
      <p:sp>
        <p:nvSpPr>
          <p:cNvPr id="23" name="TextBox 22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7315200" cy="73152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מודול 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מכוונות לתוצאות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3657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E8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הפער בין מה שהתכוונו לעשות לבין מה שבאמת קורה - וכיצד לסגור אותו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54/70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התופעה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ה-Intention-Action Gap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5 · מכוונות לתוצאות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מחקר Sheeran &amp; Webb (2016, מטא-אנליזה של 422 מחקרים): הפער בין כוונה לפעולה הוא מרכזי וניתן לסגירה.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מהכוונות טובות הופכות לפעולה (בלבד)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20040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91%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4480560" y="44805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עליה באחוז הביצוע עם Implementation Intentions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320040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2-3x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8138160" y="44805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גידול בסיכוי להשלמת מטרה עם מעקב שבועי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המסקנה: כוונה לא מספיקה. צריך מבנה, תזכורות, ומעקב.</a:t>
            </a:r>
            <a:endParaRPr lang="en-US" sz="1500" dirty="0"/>
          </a:p>
        </p:txBody>
      </p:sp>
      <p:sp>
        <p:nvSpPr>
          <p:cNvPr id="22" name="TextBox 21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כלי פרקטי #1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Intentions (Gollwitzer)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5 · מכוונות לתוצאות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הנוסחה: 'אם מצב X יקרה, אני אעשה Y במקום X'. מעבירה את הבקרה מהרצון-הטוב למסלול אוטומטי.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0972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00400"/>
            <a:ext cx="13716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32004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"אם אם אקבל מייל לחוץ...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2004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...אז אז אנשום 3 נשימות לפני שאגיב"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0972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14800"/>
            <a:ext cx="13716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41148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"אם אם פגישה תבוטל...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114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...אז אז אשתמש ב-20 דק' לכתיבת המטא השבועית"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0972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029200"/>
            <a:ext cx="13716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50292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"אם אם אלחץ מידי ליום...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0292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...אז אז אלך 10 דק' החוצה לאוויר"</a:t>
            </a:r>
            <a:endParaRPr lang="en-US" sz="1300" dirty="0"/>
          </a:p>
        </p:txBody>
      </p:sp>
      <p:sp>
        <p:nvSpPr>
          <p:cNvPr id="24" name="TextBox 23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כלי פרקטי #2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SMARTER Goals - העדכון ל-2024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5 · מכוונות לתוצאות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1234440" cy="123444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Specific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ספציפי ומדויק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31720" y="2651760"/>
            <a:ext cx="1234440" cy="123444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26517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2057400" y="4023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3891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מדיד במספרים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2651760"/>
            <a:ext cx="1234440" cy="123444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26517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3657600" y="4023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43891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בר-ביצוע אישי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2651760"/>
            <a:ext cx="1234440" cy="1234440"/>
          </a:xfrm>
          <a:prstGeom prst="ellipse">
            <a:avLst/>
          </a:prstGeom>
          <a:solidFill>
            <a:srgbClr val="2129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26517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5257800" y="4023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Relevant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43891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רלוונטי ליעד גדול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2651760"/>
            <a:ext cx="1234440" cy="123444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26517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6858000" y="4023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Time-bound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891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תאריך יעד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732520" y="2651760"/>
            <a:ext cx="1234440" cy="123444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2520" y="26517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8458200" y="4023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58200" y="43891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 מדידה שוטפת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32720" y="2651760"/>
            <a:ext cx="1234440" cy="123444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0" y="26517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4800" dirty="0"/>
          </a:p>
        </p:txBody>
      </p:sp>
      <p:sp>
        <p:nvSpPr>
          <p:cNvPr id="37" name="Text 35"/>
          <p:cNvSpPr/>
          <p:nvPr/>
        </p:nvSpPr>
        <p:spPr>
          <a:xfrm>
            <a:off x="10058400" y="4023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0" y="43891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מתעדכן כל 30 יום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5577840"/>
            <a:ext cx="10972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" y="5577840"/>
            <a:ext cx="73152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715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הוספת 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1520" y="6126480"/>
            <a:ext cx="1060704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האותיות האחרונות (Evaluate &amp; Review) הן שסוגרות את הפער. בלעדיהן - המטרה נשכחת.</a:t>
            </a:r>
            <a:endParaRPr lang="en-US" sz="1200" dirty="0"/>
          </a:p>
        </p:txBody>
      </p:sp>
      <p:sp>
        <p:nvSpPr>
          <p:cNvPr id="43" name="TextBox 42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כלי פרקטי #3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OKR - Objectives &amp; Key Results (Google)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5 · מכוונות לתוצאות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מסגרת עבודה לסגירת הפער בין חזון לתוצאה. מורכב מ-2 חלקים: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103120"/>
            <a:ext cx="53492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Objective (מטרה)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אני רוצה להשיג?</a:t>
            </a:r>
            <a:endParaRPr lang="en-US" sz="1400" dirty="0"/>
          </a:p>
          <a:p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איכותי, שאפתני, מעורר השראה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מכוון עתיד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לרבעון או שנה</a:t>
            </a:r>
            <a:endParaRPr lang="en-US" sz="1400" dirty="0"/>
          </a:p>
          <a:p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דוגמה: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'לשפר משמעותית את שביעות רצון הלקוחות'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10312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Results (תוצאות מפתח)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27432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אדע שהצלחתי?</a:t>
            </a:r>
            <a:endParaRPr lang="en-US" sz="1400" dirty="0"/>
          </a:p>
          <a:p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3-5 תוצאות מדידות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מספריות, ברורות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מאותגרות</a:t>
            </a:r>
            <a:endParaRPr lang="en-US" sz="1400" dirty="0"/>
          </a:p>
          <a:p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דוגמה: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NPS מ-42 ל-65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זמן תגובה מ-24ש ל-4ש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Churn מ-8% ל-4%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אצבע Google: אם השגת 100% מה-KR - לא היית שאפתני/ת מספיק. יעד ההצלחה: 70%.</a:t>
            </a:r>
            <a:endParaRPr 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כלי פרקטי #4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שותף לאחריותיות (Accountability Partner)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5 · מכוונות לתוצאות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מחקר ASTD (American Society for Training): פגישה קבועה עם שותף מעלה סיכוי השלמת יעד מ-25% ל-95%.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21945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85800" y="42976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החלטה לעשות משהו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3017520"/>
            <a:ext cx="21945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3464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2971800" y="42976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רעיון קונקרטי מתי לעשות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3017520"/>
            <a:ext cx="21945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257800" y="42976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פעולה מפורטת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3017520"/>
            <a:ext cx="21945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543800" y="42976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התחייבות בפני מישהו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92640" y="3017520"/>
            <a:ext cx="21945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9264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9829800" y="42976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פגישת מעקב קבועה עם שותף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5669280"/>
            <a:ext cx="73152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המלצה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6217920"/>
            <a:ext cx="10607040" cy="-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בחר/י שותף מהסדנה לפגישה של 20 דק' אחת לשבועיים בחודש הקרוב.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מערכת מעקב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אישיים - הדשבורד שלי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5 · מכוונות לתוצאות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ב-Storyline: דשבורד אישי עם משתנים שהמשתמש/ת מזין/ה בתחילת הסדנה ומעדכן/ת בסוף כל שבוע.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43200"/>
            <a:ext cx="21945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פרואקטיביות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85800" y="46634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יוזמות/שבוע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274320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743200"/>
            <a:ext cx="219456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יציבות רגשית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2971800" y="46634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זיהוי+ויסות/יום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274320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2743200"/>
            <a:ext cx="219456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התמדה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5257800" y="46634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ימי רצף/הרגל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06640" y="274320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0" y="2743200"/>
            <a:ext cx="219456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החלטות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06640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7543800" y="46634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שקולות/שבוע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692640" y="274320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92640" y="2743200"/>
            <a:ext cx="219456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ביצוע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92640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9829800" y="46634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התחייבויות שמולאו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 שבועי</a:t>
            </a:r>
            <a:endParaRPr lang="en-US" sz="1100" dirty="0"/>
          </a:p>
        </p:txBody>
      </p:sp>
      <p:sp>
        <p:nvSpPr>
          <p:cNvPr id="38" name="TextBox 37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כלי פרקטי #5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1-3-5 Method - יעילות יומית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5 · מכוונות לתוצאות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61/70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שיטה פשוטה לניהול יום: בכל בוקר רשום/י: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88720" y="2743200"/>
            <a:ext cx="2377440" cy="2377440"/>
          </a:xfrm>
          <a:prstGeom prst="ellipse">
            <a:avLst/>
          </a:prstGeom>
          <a:solidFill>
            <a:srgbClr val="F96167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7432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0" dirty="0"/>
          </a:p>
        </p:txBody>
      </p:sp>
      <p:sp>
        <p:nvSpPr>
          <p:cNvPr id="14" name="Text 12"/>
          <p:cNvSpPr/>
          <p:nvPr/>
        </p:nvSpPr>
        <p:spPr>
          <a:xfrm>
            <a:off x="822960" y="5257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משימה גדולה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משהו שמניע את היעד הגדול - דרוש לה ריכוז של שעתיים+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743200"/>
            <a:ext cx="2377440" cy="2377440"/>
          </a:xfrm>
          <a:prstGeom prst="ellipse">
            <a:avLst/>
          </a:prstGeom>
          <a:solidFill>
            <a:srgbClr val="1C7293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7432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0" dirty="0"/>
          </a:p>
        </p:txBody>
      </p:sp>
      <p:sp>
        <p:nvSpPr>
          <p:cNvPr id="18" name="Text 16"/>
          <p:cNvSpPr/>
          <p:nvPr/>
        </p:nvSpPr>
        <p:spPr>
          <a:xfrm>
            <a:off x="4663440" y="5257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משימות בינוניות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5669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חשובות - כל אחת דורשת 30-60 דק' של מיקוד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680" y="2743200"/>
            <a:ext cx="2377440" cy="2377440"/>
          </a:xfrm>
          <a:prstGeom prst="ellipse">
            <a:avLst/>
          </a:prstGeom>
          <a:solidFill>
            <a:srgbClr val="065A82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27432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0" dirty="0"/>
          </a:p>
        </p:txBody>
      </p:sp>
      <p:sp>
        <p:nvSpPr>
          <p:cNvPr id="22" name="Text 20"/>
          <p:cNvSpPr/>
          <p:nvPr/>
        </p:nvSpPr>
        <p:spPr>
          <a:xfrm>
            <a:off x="8503920" y="5257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משימות קטנות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0" y="5669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פעולות מהירות - כל אחת פחות מ-15 דק'</a:t>
            </a:r>
            <a:endParaRPr lang="en-US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תרגיל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תוכנית 90 יום - מסך אישי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5 · מכוונות לתוצאות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194560"/>
            <a:ext cx="18288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יום ראשונים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0" y="2697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התמצאות + מדידה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2423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בסיס: 3 הרגלים יומיים + מעקב KPI שבועי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474720"/>
            <a:ext cx="18288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30-60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העמקה + כוונון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37033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מתחילים יישום מלא + accountability partner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754880"/>
            <a:ext cx="18288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4892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60-90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0" y="5257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תוצאות מוכחות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14400" y="4983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נתונים מדודים + עדכון תוכנית הבאה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ב-Storyline: טופס אינטראקטיבי עם שדות למלא + pdf לייצוא</a:t>
            </a:r>
            <a:endParaRPr lang="en-US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בדיקת ידע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שאלה: Implementation Intention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5 · מכוונות לתוצאות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איזה משפט הוא Implementation Intention נכון?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0" y="292608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83464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אשתדל להתחיל להתאמן השבוע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81360" y="361188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מקווה לשנות את ההרגלים שלי בקרוב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81360" y="429768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136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20624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אסיים את הפגישה ב-16:00, אז אצא לריצה של 20 דק' ב-16:15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81360" y="498348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8136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89204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יהיה טוב אם אצליח להיות יותר בריא</a:t>
            </a:r>
            <a:endParaRPr lang="en-US" sz="1300" dirty="0"/>
          </a:p>
        </p:txBody>
      </p:sp>
      <p:sp>
        <p:nvSpPr>
          <p:cNvPr id="30" name="TextBox 29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התחייבות אישית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הרגל-מפתח שלי לחודש הקרוב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5 · מכוונות לתוצאות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286000"/>
            <a:ext cx="103327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5603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"הרגל יומי של 10-15 דק' שיקדם אותי ליעד:"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8720" y="3108960"/>
            <a:ext cx="9784080" cy="731520"/>
          </a:xfrm>
          <a:prstGeom prst="rect">
            <a:avLst/>
          </a:prstGeom>
          <a:solidFill>
            <a:srgbClr val="E8F1F7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188720" y="310896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[שדה: habit_m5]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"Implementation Intention:" (אם... אז...)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4572000"/>
            <a:ext cx="9784080" cy="1371600"/>
          </a:xfrm>
          <a:prstGeom prst="rect">
            <a:avLst/>
          </a:prstGeom>
          <a:solidFill>
            <a:srgbClr val="E8F1F7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188720" y="457200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[שדה: if_then_m5]</a:t>
            </a:r>
            <a:endParaRPr 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סיכום מודול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מה למדנו במודול 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5 · מכוונות לתוצאות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698480" y="22860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 מהכוונות הופכות לפעולה - הפער אמיתי, וניתן לסגירה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698480" y="31089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Intentions: 'אם X, אז Y' - מעלה ביצוע פי 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698480" y="39319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+ OKR: מסגרות ליעדים מדידים עם מעקב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698480" y="47548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סיכוי להצלחה עם שותף לאחריותיות ופגישות שבועיות</a:t>
            </a:r>
            <a:endParaRPr lang="en-US" sz="1500" dirty="0"/>
          </a:p>
        </p:txBody>
      </p:sp>
      <p:sp>
        <p:nvSpPr>
          <p:cNvPr id="23" name="TextBox 22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אינטגרציה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ה-DNA של ההצלחה שלי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הסדנה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35640" y="2313432"/>
            <a:ext cx="457200" cy="45720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3564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0" y="21945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פרואקטיביות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1945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יוזמה שבועית + טבלת שליטה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35640" y="3090672"/>
            <a:ext cx="457200" cy="45720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3564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0" y="2971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יציבות רגשית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297180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+ נשימה 4-7-8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35640" y="3867912"/>
            <a:ext cx="457200" cy="45720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3564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0" y="37490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התמדה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37490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WOOP + Habit Stacking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35640" y="4645152"/>
            <a:ext cx="457200" cy="45720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3564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2400" y="45262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קבלת החלטות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452628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+ Premortem + 10-10-10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30352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35640" y="5422392"/>
            <a:ext cx="457200" cy="45720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3564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72400" y="53035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מכוונות לתוצאות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1520" y="53035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Intentions + Accountability</a:t>
            </a:r>
            <a:endParaRPr lang="en-US" sz="1300" dirty="0"/>
          </a:p>
        </p:txBody>
      </p:sp>
      <p:sp>
        <p:nvSpPr>
          <p:cNvPr id="36" name="TextBox 35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תוכנית הפעולה שלי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 ההתחייבויות שלי במסמך אחד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הסדנה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ב-Storyline: המסך מציג את כל המשתנים שהמשתמש/ת מילאו במהלך הסדנה - מוכנים להורדה כ-PDF.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10972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6517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1·פרואקטיביות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6517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היוזמה השבועית שלי: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651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[commitment_m1]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10972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33375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2·יציבות רגשית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3375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שאתרגל יומית: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3375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[tool_m2]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10972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40233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3·התמדה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4023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ההרגל ל-21 ימים שלי: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023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[habit21_m3]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10972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47091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4·החלטות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47091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ההחלטה שאקבל אחרת: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7091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[decision_m4]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10972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5394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5·תוצאות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53949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Intention שלי: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53949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[if_then_m5]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6126480"/>
            <a:ext cx="457200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📄 הורד/י את תוכנית הפעולה ל-PDF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הערכה מסכמת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איפה את/ה עכשיו? (הערכה חוזרת)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הסדנה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45720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אינטראקטיבי ב-Storyline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דרג/י את עצמך שוב בחמשת הממדים. המערכת תשווה ותראה את ההתקדמות שלך.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7432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פועל/ת מראש ולא רק מגיב/ה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0" y="283464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88920" y="283464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283464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17320" y="283464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283464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33756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3375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נשאר/ת רגוע/ה תחת לחץ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474720" y="342900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88920" y="342900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03120" y="342900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17320" y="342900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1732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342900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393192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39319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מתמיד/ה גם כשקשה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474720" y="402336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88920" y="402336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889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103120" y="402336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031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417320" y="402336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173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" y="402336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" y="452628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45262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מקבל/ת החלטות בביטחון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474720" y="461772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88920" y="461772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88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103120" y="461772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031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417320" y="461772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173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31520" y="461772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48640" y="512064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0" y="51206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מבצע/ת את מה שהחלטתי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3474720" y="521208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88920" y="521208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8892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103120" y="521208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0312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417320" y="521208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732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31520" y="5212080"/>
            <a:ext cx="320040" cy="320040"/>
          </a:xfrm>
          <a:prstGeom prst="ellipse">
            <a:avLst/>
          </a:prstGeom>
          <a:solidFill>
            <a:srgbClr val="E8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ב-Storyline: Variable score_post - מציג השוואה ויזואלית לבסיס (score_pre)</a:t>
            </a:r>
            <a:endParaRPr lang="en-US" sz="1100" dirty="0"/>
          </a:p>
        </p:txBody>
      </p:sp>
      <p:sp>
        <p:nvSpPr>
          <p:cNvPr id="75" name="TextBox 74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משאבים נוספים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להעמקה אחרי הסדנה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הסדנה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69/70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2103120"/>
            <a:ext cx="5349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103120"/>
            <a:ext cx="53492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ספרים מומלצים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4892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'7 הרגלים של אנשים אפקטיביים' - Stephen Covey</a:t>
            </a:r>
            <a:endParaRPr lang="en-US" sz="12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'Grit' - Angela Duckworth</a:t>
            </a:r>
            <a:endParaRPr lang="en-US" sz="12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'Atomic Habits' - James Clear</a:t>
            </a:r>
            <a:endParaRPr lang="en-US" sz="12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'Thinking, Fast and Slow' - Daniel Kahneman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5349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103120"/>
            <a:ext cx="534924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מחקרים מקוריים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4892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Bateman &amp; Crant (1993) - Proactive Personality</a:t>
            </a:r>
            <a:endParaRPr lang="en-US" sz="12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Gollwitzer (1999) - Implementation Intentions</a:t>
            </a:r>
            <a:endParaRPr lang="en-US" sz="12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Dweck (2006) - Mindset</a:t>
            </a:r>
            <a:endParaRPr lang="en-US" sz="12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Kahneman (2011) - Dual Process Theory</a:t>
            </a:r>
            <a:endParaRPr 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2743200"/>
            <a:ext cx="7315200" cy="73152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תודה!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4572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4747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את/ה מסיימ/ת את הסדנה עם תוכנית פעולה אישית ל-90 יום.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E8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הצלחה אינה אירוע חד-פעמי - היא דפוס של פעולות חוזרות.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"הפרש בין מי שאת/ה עכשיו למי שתהיה/י בעוד שנה</a:t>
            </a:r>
            <a:endParaRPr lang="en-US" sz="1600" dirty="0"/>
          </a:p>
          <a:p>
            <a:pPr algn="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נקבע על-ידי מה שתעשה/י בימים הקרובים."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0" y="585216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5852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📝 פיד-בק על הסדנה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של הצלחה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70/70</a:t>
            </a:r>
            <a:endParaRPr 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6492240"/>
            <a:ext cx="1182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Ayelet Nogrian · All Rights Reserved · ayelet.nogrian@gmail.com</a:t>
            </a:r>
          </a:p>
          <a:p>
            <a:pPr algn="ctr"/>
            <a:r>
              <a:rPr sz="700" i="1">
                <a:solidFill>
                  <a:srgbClr val="888888"/>
                </a:solidFill>
                <a:latin typeface="Arial"/>
              </a:rPr>
              <a:t>© 2026 כל הזכויות שמורות לאיילת נוגריאן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 של הצלחה - סדנה דיגיטלית</dc:title>
  <dc:subject>PptxGenJS Presentation</dc:subject>
  <dc:creator>L&amp;D Team</dc:creator>
  <cp:lastModifiedBy>L&amp;D Team</cp:lastModifiedBy>
  <cp:revision>1</cp:revision>
  <dcterms:created xsi:type="dcterms:W3CDTF">2026-04-18T16:59:28Z</dcterms:created>
  <dcterms:modified xsi:type="dcterms:W3CDTF">2026-04-18T16:59:28Z</dcterms:modified>
</cp:coreProperties>
</file>